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21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57141-BC90-4617-9E2D-8F67D36387CB}" type="datetimeFigureOut">
              <a:rPr lang="en-NL" smtClean="0"/>
              <a:t>30/07/2026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7BDA04-B727-43C9-9DD7-F11596669A0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15320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z="1200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3F968B-9144-BF43-92A5-52C52102B73A}" type="slidenum">
              <a:rPr kumimoji="0" lang="en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9262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956B-C21F-4F7D-BA8B-46C2080340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FAC8CCB1-F552-2455-9F42-A713D4404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73331" y="6542011"/>
            <a:ext cx="2122770" cy="240630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218895"/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82034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956B-C21F-4F7D-BA8B-46C2080340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E9C1D-2BD5-41DD-9C24-6445DF078E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14325" y="1253644"/>
            <a:ext cx="11563350" cy="435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2B857163-BF7F-871E-4E5B-13866BE83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73331" y="6542011"/>
            <a:ext cx="2122770" cy="240630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218895"/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05561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6">
            <a:extLst>
              <a:ext uri="{FF2B5EF4-FFF2-40B4-BE49-F238E27FC236}">
                <a16:creationId xmlns:a16="http://schemas.microsoft.com/office/drawing/2014/main" id="{27E1315B-68E3-4ED4-838C-A393F3DD8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17" y="278865"/>
            <a:ext cx="10514926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22" name="Rectangle 71">
            <a:extLst>
              <a:ext uri="{FF2B5EF4-FFF2-40B4-BE49-F238E27FC236}">
                <a16:creationId xmlns:a16="http://schemas.microsoft.com/office/drawing/2014/main" id="{64C7F1E1-4994-42CE-A6CC-C5A5B84287A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32464" y="6485794"/>
            <a:ext cx="400784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6" tIns="45708" rIns="91416" bIns="45708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1066" b="0" noProof="0" smtClean="0"/>
              <a:pPr lvl="0"/>
              <a:t>‹#›</a:t>
            </a:fld>
            <a:r>
              <a:rPr lang="en-US" sz="1066" b="0" noProof="0"/>
              <a:t>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A751A1-620D-42C6-BBE9-5436955A622E}"/>
              </a:ext>
            </a:extLst>
          </p:cNvPr>
          <p:cNvCxnSpPr/>
          <p:nvPr userDrawn="1"/>
        </p:nvCxnSpPr>
        <p:spPr>
          <a:xfrm>
            <a:off x="6086669" y="6593416"/>
            <a:ext cx="0" cy="16956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B1FFFEBB-D97C-4591-805F-B83DC74F70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06079" y="6475949"/>
            <a:ext cx="1097280" cy="2349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12130B-A1A5-09C7-96F1-8A60B29D9B0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1390585" y="6266283"/>
            <a:ext cx="495336" cy="43541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D76FCD-9C99-3EA5-26BF-FCB0A501B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73331" y="6542011"/>
            <a:ext cx="2122770" cy="240630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defTabSz="1218895"/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26362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dt="0"/>
  <p:txStyles>
    <p:titleStyle>
      <a:lvl1pPr eaLnBrk="1" hangingPunct="1">
        <a:defRPr lang="en-US" sz="2400" b="1" i="0" kern="0" baseline="0" dirty="0">
          <a:solidFill>
            <a:schemeClr val="tx1"/>
          </a:solidFill>
          <a:latin typeface="Houschka Rounded Alt DemiBold" panose="020F0603000000020003" pitchFamily="34" charset="77"/>
          <a:ea typeface="+mj-ea"/>
          <a:cs typeface="+mj-cs"/>
        </a:defRPr>
      </a:lvl1pPr>
    </p:titleStyle>
    <p:bodyStyle>
      <a:lvl1pPr marL="228543" indent="-228543" eaLnBrk="1" hangingPunct="1">
        <a:buClr>
          <a:srgbClr val="4E80C2"/>
        </a:buClr>
        <a:buFont typeface="Arial" panose="020B0604020202020204" pitchFamily="34" charset="0"/>
        <a:buChar char="•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05703" indent="-228543" eaLnBrk="1" hangingPunct="1">
        <a:buClr>
          <a:srgbClr val="4E80C2"/>
        </a:buClr>
        <a:buFont typeface="Symbol" panose="05050102010706020507" pitchFamily="18" charset="2"/>
        <a:buChar char="-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82863" indent="-228543" eaLnBrk="1" hangingPunct="1">
        <a:buClr>
          <a:srgbClr val="4E80C2"/>
        </a:buClr>
        <a:buFont typeface="Arial" panose="020B0604020202020204" pitchFamily="34" charset="0"/>
        <a:buChar char="•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60023" indent="-228543" eaLnBrk="1" hangingPunct="1">
        <a:buClr>
          <a:srgbClr val="4E80C2"/>
        </a:buClr>
        <a:buFont typeface="Courier New" panose="02070309020205020404" pitchFamily="49" charset="0"/>
        <a:buChar char="o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37183" indent="-228543" eaLnBrk="1" hangingPunct="1">
        <a:buClr>
          <a:srgbClr val="4E80C2"/>
        </a:buClr>
        <a:buFont typeface="Arial" panose="020B0604020202020204" pitchFamily="34" charset="0"/>
        <a:buChar char="•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385801" eaLnBrk="1" hangingPunct="1">
        <a:defRPr>
          <a:latin typeface="+mn-lt"/>
          <a:ea typeface="+mn-ea"/>
          <a:cs typeface="+mn-cs"/>
        </a:defRPr>
      </a:lvl6pPr>
      <a:lvl7pPr marL="1662961" eaLnBrk="1" hangingPunct="1">
        <a:defRPr>
          <a:latin typeface="+mn-lt"/>
          <a:ea typeface="+mn-ea"/>
          <a:cs typeface="+mn-cs"/>
        </a:defRPr>
      </a:lvl7pPr>
      <a:lvl8pPr marL="1940120" eaLnBrk="1" hangingPunct="1">
        <a:defRPr>
          <a:latin typeface="+mn-lt"/>
          <a:ea typeface="+mn-ea"/>
          <a:cs typeface="+mn-cs"/>
        </a:defRPr>
      </a:lvl8pPr>
      <a:lvl9pPr marL="2217282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77160" eaLnBrk="1" hangingPunct="1">
        <a:defRPr>
          <a:latin typeface="+mn-lt"/>
          <a:ea typeface="+mn-ea"/>
          <a:cs typeface="+mn-cs"/>
        </a:defRPr>
      </a:lvl2pPr>
      <a:lvl3pPr marL="554320" eaLnBrk="1" hangingPunct="1">
        <a:defRPr>
          <a:latin typeface="+mn-lt"/>
          <a:ea typeface="+mn-ea"/>
          <a:cs typeface="+mn-cs"/>
        </a:defRPr>
      </a:lvl3pPr>
      <a:lvl4pPr marL="831480" eaLnBrk="1" hangingPunct="1">
        <a:defRPr>
          <a:latin typeface="+mn-lt"/>
          <a:ea typeface="+mn-ea"/>
          <a:cs typeface="+mn-cs"/>
        </a:defRPr>
      </a:lvl4pPr>
      <a:lvl5pPr marL="1108640" eaLnBrk="1" hangingPunct="1">
        <a:defRPr>
          <a:latin typeface="+mn-lt"/>
          <a:ea typeface="+mn-ea"/>
          <a:cs typeface="+mn-cs"/>
        </a:defRPr>
      </a:lvl5pPr>
      <a:lvl6pPr marL="1385801" eaLnBrk="1" hangingPunct="1">
        <a:defRPr>
          <a:latin typeface="+mn-lt"/>
          <a:ea typeface="+mn-ea"/>
          <a:cs typeface="+mn-cs"/>
        </a:defRPr>
      </a:lvl6pPr>
      <a:lvl7pPr marL="1662961" eaLnBrk="1" hangingPunct="1">
        <a:defRPr>
          <a:latin typeface="+mn-lt"/>
          <a:ea typeface="+mn-ea"/>
          <a:cs typeface="+mn-cs"/>
        </a:defRPr>
      </a:lvl7pPr>
      <a:lvl8pPr marL="1940120" eaLnBrk="1" hangingPunct="1">
        <a:defRPr>
          <a:latin typeface="+mn-lt"/>
          <a:ea typeface="+mn-ea"/>
          <a:cs typeface="+mn-cs"/>
        </a:defRPr>
      </a:lvl8pPr>
      <a:lvl9pPr marL="2217282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>
          <p15:clr>
            <a:srgbClr val="F26B43"/>
          </p15:clr>
        </p15:guide>
        <p15:guide id="2" orient="horz" pos="560">
          <p15:clr>
            <a:srgbClr val="F26B43"/>
          </p15:clr>
        </p15:guide>
        <p15:guide id="3" pos="160">
          <p15:clr>
            <a:srgbClr val="F26B43"/>
          </p15:clr>
        </p15:guide>
        <p15:guide id="4" pos="7506">
          <p15:clr>
            <a:srgbClr val="F26B43"/>
          </p15:clr>
        </p15:guide>
        <p15:guide id="6" orient="horz" pos="3928">
          <p15:clr>
            <a:srgbClr val="F26B43"/>
          </p15:clr>
        </p15:guide>
        <p15:guide id="7" pos="237">
          <p15:clr>
            <a:srgbClr val="F26B43"/>
          </p15:clr>
        </p15:guide>
        <p15:guide id="8" orient="horz" pos="704">
          <p15:clr>
            <a:srgbClr val="F26B43"/>
          </p15:clr>
        </p15:guide>
        <p15:guide id="9" orient="horz" pos="89">
          <p15:clr>
            <a:srgbClr val="F26B43"/>
          </p15:clr>
        </p15:guide>
        <p15:guide id="10" orient="horz" pos="422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4B71D2E-D668-157D-FB20-9D16F9260DF7}"/>
              </a:ext>
            </a:extLst>
          </p:cNvPr>
          <p:cNvSpPr txBox="1">
            <a:spLocks/>
          </p:cNvSpPr>
          <p:nvPr/>
        </p:nvSpPr>
        <p:spPr>
          <a:xfrm>
            <a:off x="5997879" y="1046402"/>
            <a:ext cx="6037239" cy="42767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80000" tIns="180000" rIns="180000" bIns="180000" rtlCol="0">
            <a:noAutofit/>
          </a:bodyPr>
          <a:lstStyle>
            <a:lvl1pPr marL="228543" indent="-228543" eaLnBrk="1" hangingPunct="1">
              <a:buClr>
                <a:srgbClr val="4E80C2"/>
              </a:buClr>
              <a:buFont typeface="Arial" panose="020B0604020202020204" pitchFamily="34" charset="0"/>
              <a:buChar char="•"/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05703" indent="-228543" eaLnBrk="1" hangingPunct="1">
              <a:buClr>
                <a:srgbClr val="4E80C2"/>
              </a:buClr>
              <a:buFont typeface="Symbol" panose="05050102010706020507" pitchFamily="18" charset="2"/>
              <a:buChar char="-"/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82863" indent="-228543" eaLnBrk="1" hangingPunct="1">
              <a:buClr>
                <a:srgbClr val="4E80C2"/>
              </a:buClr>
              <a:buFont typeface="Arial" panose="020B0604020202020204" pitchFamily="34" charset="0"/>
              <a:buChar char="•"/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60023" indent="-228543" eaLnBrk="1" hangingPunct="1">
              <a:buClr>
                <a:srgbClr val="4E80C2"/>
              </a:buClr>
              <a:buFont typeface="Courier New" panose="02070309020205020404" pitchFamily="49" charset="0"/>
              <a:buChar char="o"/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37183" indent="-228543" eaLnBrk="1" hangingPunct="1">
              <a:buClr>
                <a:srgbClr val="4E80C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85801" eaLnBrk="1" hangingPunct="1">
              <a:defRPr>
                <a:latin typeface="+mn-lt"/>
                <a:ea typeface="+mn-ea"/>
                <a:cs typeface="+mn-cs"/>
              </a:defRPr>
            </a:lvl6pPr>
            <a:lvl7pPr marL="1662961" eaLnBrk="1" hangingPunct="1">
              <a:defRPr>
                <a:latin typeface="+mn-lt"/>
                <a:ea typeface="+mn-ea"/>
                <a:cs typeface="+mn-cs"/>
              </a:defRPr>
            </a:lvl7pPr>
            <a:lvl8pPr marL="1940120" eaLnBrk="1" hangingPunct="1">
              <a:defRPr>
                <a:latin typeface="+mn-lt"/>
                <a:ea typeface="+mn-ea"/>
                <a:cs typeface="+mn-cs"/>
              </a:defRPr>
            </a:lvl8pPr>
            <a:lvl9pPr marL="2217282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80C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400" b="1" i="0" u="none" strike="noStrike" kern="1200" cap="none" spc="0" normalizeH="0" baseline="0" noProof="0">
              <a:ln>
                <a:noFill/>
              </a:ln>
              <a:solidFill>
                <a:srgbClr val="1F1E2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9CC1A2-F5E1-1787-12D9-2415E86D3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17" y="278865"/>
            <a:ext cx="10514926" cy="376879"/>
          </a:xfrm>
        </p:spPr>
        <p:txBody>
          <a:bodyPr/>
          <a:lstStyle/>
          <a:p>
            <a:r>
              <a:rPr lang="en-US" dirty="0"/>
              <a:t>Layer 2 | AI opportunities for SDLC </a:t>
            </a:r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D9E9C-C86B-59C6-DD28-18D4E0577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Confidential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EC436D-ED60-8FD3-21AF-A84389B16EDB}"/>
              </a:ext>
            </a:extLst>
          </p:cNvPr>
          <p:cNvGrpSpPr/>
          <p:nvPr/>
        </p:nvGrpSpPr>
        <p:grpSpPr>
          <a:xfrm>
            <a:off x="345105" y="1111108"/>
            <a:ext cx="11501788" cy="3979675"/>
            <a:chOff x="254000" y="1682179"/>
            <a:chExt cx="11661775" cy="4007858"/>
          </a:xfrm>
        </p:grpSpPr>
        <p:sp>
          <p:nvSpPr>
            <p:cNvPr id="26" name="Pijl: punthaak 21">
              <a:extLst>
                <a:ext uri="{FF2B5EF4-FFF2-40B4-BE49-F238E27FC236}">
                  <a16:creationId xmlns:a16="http://schemas.microsoft.com/office/drawing/2014/main" id="{BF1D946D-63DB-FD2D-CCA4-0E39B9B18F1B}"/>
                </a:ext>
              </a:extLst>
            </p:cNvPr>
            <p:cNvSpPr/>
            <p:nvPr/>
          </p:nvSpPr>
          <p:spPr>
            <a:xfrm>
              <a:off x="1706657" y="1682179"/>
              <a:ext cx="1542206" cy="509826"/>
            </a:xfrm>
            <a:prstGeom prst="chevron">
              <a:avLst/>
            </a:prstGeom>
            <a:solidFill>
              <a:srgbClr val="E7540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44000" tIns="144000" rIns="144000" bIns="144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Verdana"/>
                  <a:cs typeface="Calibri" panose="020F0502020204030204" pitchFamily="34" charset="0"/>
                </a:rPr>
                <a:t>Prototype</a:t>
              </a:r>
            </a:p>
          </p:txBody>
        </p:sp>
        <p:sp>
          <p:nvSpPr>
            <p:cNvPr id="27" name="Pijl: punthaak 32">
              <a:extLst>
                <a:ext uri="{FF2B5EF4-FFF2-40B4-BE49-F238E27FC236}">
                  <a16:creationId xmlns:a16="http://schemas.microsoft.com/office/drawing/2014/main" id="{6F74C5EB-66DC-805A-91D0-C684CB451DFD}"/>
                </a:ext>
              </a:extLst>
            </p:cNvPr>
            <p:cNvSpPr/>
            <p:nvPr/>
          </p:nvSpPr>
          <p:spPr>
            <a:xfrm>
              <a:off x="254000" y="1682179"/>
              <a:ext cx="1542206" cy="509826"/>
            </a:xfrm>
            <a:prstGeom prst="chevron">
              <a:avLst/>
            </a:prstGeom>
            <a:solidFill>
              <a:srgbClr val="E7540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44000" tIns="144000" rIns="144000" bIns="144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Verdana"/>
                  <a:cs typeface="Calibri" panose="020F0502020204030204" pitchFamily="34" charset="0"/>
                </a:rPr>
                <a:t>Requirements</a:t>
              </a:r>
            </a:p>
          </p:txBody>
        </p:sp>
        <p:sp>
          <p:nvSpPr>
            <p:cNvPr id="28" name="Pijl: punthaak 33">
              <a:extLst>
                <a:ext uri="{FF2B5EF4-FFF2-40B4-BE49-F238E27FC236}">
                  <a16:creationId xmlns:a16="http://schemas.microsoft.com/office/drawing/2014/main" id="{BAD3B101-F2DD-1E1D-C69A-41CEBCDC368E}"/>
                </a:ext>
              </a:extLst>
            </p:cNvPr>
            <p:cNvSpPr/>
            <p:nvPr/>
          </p:nvSpPr>
          <p:spPr>
            <a:xfrm>
              <a:off x="3159315" y="1682179"/>
              <a:ext cx="1542206" cy="509826"/>
            </a:xfrm>
            <a:prstGeom prst="chevron">
              <a:avLst/>
            </a:prstGeom>
            <a:solidFill>
              <a:srgbClr val="E7540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44000" tIns="144000" rIns="144000" bIns="144000" rtlCol="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UX/SD</a:t>
              </a:r>
            </a:p>
          </p:txBody>
        </p:sp>
        <p:sp>
          <p:nvSpPr>
            <p:cNvPr id="29" name="Pijl: punthaak 34">
              <a:extLst>
                <a:ext uri="{FF2B5EF4-FFF2-40B4-BE49-F238E27FC236}">
                  <a16:creationId xmlns:a16="http://schemas.microsoft.com/office/drawing/2014/main" id="{67B96E0E-6B08-80E0-504E-C2C12B2671C9}"/>
                </a:ext>
              </a:extLst>
            </p:cNvPr>
            <p:cNvSpPr/>
            <p:nvPr/>
          </p:nvSpPr>
          <p:spPr>
            <a:xfrm>
              <a:off x="4611973" y="1682179"/>
              <a:ext cx="1542206" cy="509826"/>
            </a:xfrm>
            <a:prstGeom prst="chevron">
              <a:avLst/>
            </a:prstGeom>
            <a:solidFill>
              <a:srgbClr val="E7540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44000" tIns="144000" rIns="144000" bIns="144000" rtlCol="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Architecture, Design &amp; Specs</a:t>
              </a:r>
            </a:p>
          </p:txBody>
        </p:sp>
        <p:sp>
          <p:nvSpPr>
            <p:cNvPr id="30" name="Pijl: punthaak 35">
              <a:extLst>
                <a:ext uri="{FF2B5EF4-FFF2-40B4-BE49-F238E27FC236}">
                  <a16:creationId xmlns:a16="http://schemas.microsoft.com/office/drawing/2014/main" id="{DD1CD345-9712-A7B3-4C07-C3342FCC3A98}"/>
                </a:ext>
              </a:extLst>
            </p:cNvPr>
            <p:cNvSpPr/>
            <p:nvPr/>
          </p:nvSpPr>
          <p:spPr>
            <a:xfrm>
              <a:off x="6064632" y="1682179"/>
              <a:ext cx="1542206" cy="509826"/>
            </a:xfrm>
            <a:prstGeom prst="chevron">
              <a:avLst/>
            </a:prstGeom>
            <a:solidFill>
              <a:srgbClr val="E7540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44000" tIns="144000" rIns="144000" bIns="144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F4F3F9"/>
                  </a:solidFill>
                  <a:effectLst/>
                  <a:uLnTx/>
                  <a:uFillTx/>
                  <a:latin typeface="Calibri" panose="020F0502020204030204" pitchFamily="34" charset="0"/>
                  <a:ea typeface="Verdana"/>
                  <a:cs typeface="Calibri" panose="020F0502020204030204" pitchFamily="34" charset="0"/>
                </a:rPr>
                <a:t>Build</a:t>
              </a:r>
            </a:p>
          </p:txBody>
        </p:sp>
        <p:sp>
          <p:nvSpPr>
            <p:cNvPr id="31" name="Pijl: punthaak 35">
              <a:extLst>
                <a:ext uri="{FF2B5EF4-FFF2-40B4-BE49-F238E27FC236}">
                  <a16:creationId xmlns:a16="http://schemas.microsoft.com/office/drawing/2014/main" id="{E2D7024B-A24B-6925-7599-5E201B2DCC56}"/>
                </a:ext>
              </a:extLst>
            </p:cNvPr>
            <p:cNvSpPr/>
            <p:nvPr/>
          </p:nvSpPr>
          <p:spPr>
            <a:xfrm>
              <a:off x="7494839" y="1682179"/>
              <a:ext cx="1542206" cy="509826"/>
            </a:xfrm>
            <a:prstGeom prst="chevron">
              <a:avLst/>
            </a:prstGeom>
            <a:solidFill>
              <a:srgbClr val="E7540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44000" tIns="144000" rIns="144000" bIns="144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Verdana"/>
                  <a:cs typeface="Calibri" panose="020F0502020204030204" pitchFamily="34" charset="0"/>
                </a:rPr>
                <a:t>Test</a:t>
              </a:r>
            </a:p>
          </p:txBody>
        </p:sp>
        <p:sp>
          <p:nvSpPr>
            <p:cNvPr id="32" name="Pijl: punthaak 35">
              <a:extLst>
                <a:ext uri="{FF2B5EF4-FFF2-40B4-BE49-F238E27FC236}">
                  <a16:creationId xmlns:a16="http://schemas.microsoft.com/office/drawing/2014/main" id="{91593C48-B07B-3578-EE6C-2B36A40B5C48}"/>
                </a:ext>
              </a:extLst>
            </p:cNvPr>
            <p:cNvSpPr/>
            <p:nvPr/>
          </p:nvSpPr>
          <p:spPr>
            <a:xfrm>
              <a:off x="8948455" y="1682179"/>
              <a:ext cx="1542206" cy="509826"/>
            </a:xfrm>
            <a:prstGeom prst="chevron">
              <a:avLst/>
            </a:prstGeom>
            <a:solidFill>
              <a:srgbClr val="E7540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44000" tIns="144000" rIns="144000" bIns="144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Verdana"/>
                  <a:cs typeface="Calibri" panose="020F0502020204030204" pitchFamily="34" charset="0"/>
                </a:rPr>
                <a:t>Deploy</a:t>
              </a:r>
            </a:p>
          </p:txBody>
        </p:sp>
        <p:sp>
          <p:nvSpPr>
            <p:cNvPr id="33" name="Pijl: punthaak 35">
              <a:extLst>
                <a:ext uri="{FF2B5EF4-FFF2-40B4-BE49-F238E27FC236}">
                  <a16:creationId xmlns:a16="http://schemas.microsoft.com/office/drawing/2014/main" id="{F77F5B36-4904-0445-9B05-EA8DF83E3082}"/>
                </a:ext>
              </a:extLst>
            </p:cNvPr>
            <p:cNvSpPr/>
            <p:nvPr/>
          </p:nvSpPr>
          <p:spPr>
            <a:xfrm>
              <a:off x="10373569" y="1682179"/>
              <a:ext cx="1542206" cy="509826"/>
            </a:xfrm>
            <a:prstGeom prst="chevron">
              <a:avLst/>
            </a:prstGeom>
            <a:solidFill>
              <a:srgbClr val="E7540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44000" tIns="144000" rIns="144000" bIns="144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Verdana"/>
                  <a:cs typeface="Calibri" panose="020F0502020204030204" pitchFamily="34" charset="0"/>
                </a:rPr>
                <a:t>OPS</a:t>
              </a: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B60713B-C7C5-E2EE-A6CA-791796552C90}"/>
                </a:ext>
              </a:extLst>
            </p:cNvPr>
            <p:cNvSpPr/>
            <p:nvPr/>
          </p:nvSpPr>
          <p:spPr>
            <a:xfrm>
              <a:off x="327608" y="2332117"/>
              <a:ext cx="1319652" cy="1911794"/>
            </a:xfrm>
            <a:custGeom>
              <a:avLst/>
              <a:gdLst>
                <a:gd name="connsiteX0" fmla="*/ 0 w 1225217"/>
                <a:gd name="connsiteY0" fmla="*/ 0 h 1851716"/>
                <a:gd name="connsiteX1" fmla="*/ 1225217 w 1225217"/>
                <a:gd name="connsiteY1" fmla="*/ 0 h 1851716"/>
                <a:gd name="connsiteX2" fmla="*/ 1225217 w 1225217"/>
                <a:gd name="connsiteY2" fmla="*/ 1851716 h 1851716"/>
                <a:gd name="connsiteX3" fmla="*/ 0 w 1225217"/>
                <a:gd name="connsiteY3" fmla="*/ 1851716 h 1851716"/>
                <a:gd name="connsiteX4" fmla="*/ 0 w 1225217"/>
                <a:gd name="connsiteY4" fmla="*/ 0 h 18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217" h="1851716">
                  <a:moveTo>
                    <a:pt x="0" y="0"/>
                  </a:moveTo>
                  <a:lnTo>
                    <a:pt x="1225217" y="0"/>
                  </a:lnTo>
                  <a:lnTo>
                    <a:pt x="1225217" y="1851716"/>
                  </a:lnTo>
                  <a:lnTo>
                    <a:pt x="0" y="1851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6D06">
                <a:alpha val="20000"/>
              </a:srgbClr>
            </a:solidFill>
          </p:spPr>
          <p:style>
            <a:lnRef idx="2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008" tIns="64008" rIns="85344" bIns="96012" numCol="1" spcCol="1270" anchor="ctr" anchorCtr="0">
              <a:noAutofit/>
            </a:bodyPr>
            <a:lstStyle/>
            <a:p>
              <a:pPr marL="9525" marR="0" lvl="1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Summarize requirements, draft specs. Generate epics and user stories. AI-driven INVEST story validation</a:t>
              </a:r>
              <a:endPara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CE47DF6-06F1-7120-088A-54FB54DEA133}"/>
                </a:ext>
              </a:extLst>
            </p:cNvPr>
            <p:cNvSpPr/>
            <p:nvPr/>
          </p:nvSpPr>
          <p:spPr>
            <a:xfrm>
              <a:off x="1771397" y="2332117"/>
              <a:ext cx="1319652" cy="1911794"/>
            </a:xfrm>
            <a:custGeom>
              <a:avLst/>
              <a:gdLst>
                <a:gd name="connsiteX0" fmla="*/ 0 w 1225217"/>
                <a:gd name="connsiteY0" fmla="*/ 0 h 1851716"/>
                <a:gd name="connsiteX1" fmla="*/ 1225217 w 1225217"/>
                <a:gd name="connsiteY1" fmla="*/ 0 h 1851716"/>
                <a:gd name="connsiteX2" fmla="*/ 1225217 w 1225217"/>
                <a:gd name="connsiteY2" fmla="*/ 1851716 h 1851716"/>
                <a:gd name="connsiteX3" fmla="*/ 0 w 1225217"/>
                <a:gd name="connsiteY3" fmla="*/ 1851716 h 1851716"/>
                <a:gd name="connsiteX4" fmla="*/ 0 w 1225217"/>
                <a:gd name="connsiteY4" fmla="*/ 0 h 18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217" h="1851716">
                  <a:moveTo>
                    <a:pt x="0" y="0"/>
                  </a:moveTo>
                  <a:lnTo>
                    <a:pt x="1225217" y="0"/>
                  </a:lnTo>
                  <a:lnTo>
                    <a:pt x="1225217" y="1851716"/>
                  </a:lnTo>
                  <a:lnTo>
                    <a:pt x="0" y="1851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6D06">
                <a:alpha val="20000"/>
              </a:srgbClr>
            </a:solidFill>
          </p:spPr>
          <p:style>
            <a:lnRef idx="2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008" tIns="64008" rIns="85344" bIns="96012" numCol="1" spcCol="1270" anchor="ctr" anchorCtr="0">
              <a:noAutofit/>
            </a:bodyPr>
            <a:lstStyle/>
            <a:p>
              <a:pPr marL="9525" marR="0" lvl="1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Build using text prompts and deploy prototype app</a:t>
              </a:r>
              <a:endPara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0A8854D4-6EB8-C25F-190B-F4A2E46BDD92}"/>
                </a:ext>
              </a:extLst>
            </p:cNvPr>
            <p:cNvSpPr/>
            <p:nvPr/>
          </p:nvSpPr>
          <p:spPr>
            <a:xfrm>
              <a:off x="3215187" y="2332117"/>
              <a:ext cx="1319652" cy="1911794"/>
            </a:xfrm>
            <a:custGeom>
              <a:avLst/>
              <a:gdLst>
                <a:gd name="connsiteX0" fmla="*/ 0 w 1225217"/>
                <a:gd name="connsiteY0" fmla="*/ 0 h 1851716"/>
                <a:gd name="connsiteX1" fmla="*/ 1225217 w 1225217"/>
                <a:gd name="connsiteY1" fmla="*/ 0 h 1851716"/>
                <a:gd name="connsiteX2" fmla="*/ 1225217 w 1225217"/>
                <a:gd name="connsiteY2" fmla="*/ 1851716 h 1851716"/>
                <a:gd name="connsiteX3" fmla="*/ 0 w 1225217"/>
                <a:gd name="connsiteY3" fmla="*/ 1851716 h 1851716"/>
                <a:gd name="connsiteX4" fmla="*/ 0 w 1225217"/>
                <a:gd name="connsiteY4" fmla="*/ 0 h 18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217" h="1851716">
                  <a:moveTo>
                    <a:pt x="0" y="0"/>
                  </a:moveTo>
                  <a:lnTo>
                    <a:pt x="1225217" y="0"/>
                  </a:lnTo>
                  <a:lnTo>
                    <a:pt x="1225217" y="1851716"/>
                  </a:lnTo>
                  <a:lnTo>
                    <a:pt x="0" y="1851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6D06">
                <a:alpha val="20000"/>
              </a:srgbClr>
            </a:solidFill>
          </p:spPr>
          <p:style>
            <a:lnRef idx="2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008" tIns="64008" rIns="85344" bIns="96012" numCol="1" spcCol="1270" anchor="ctr" anchorCtr="0">
              <a:noAutofit/>
            </a:bodyPr>
            <a:lstStyle/>
            <a:p>
              <a:pPr marL="9525" marR="0" lvl="1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Generate UI from text prompts. Draft UX copy and accessibility guidelines. AI-assisted journey mapping</a:t>
              </a:r>
              <a:endPara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62C9789E-0415-0DF2-384B-49D9B36C0F80}"/>
                </a:ext>
              </a:extLst>
            </p:cNvPr>
            <p:cNvSpPr/>
            <p:nvPr/>
          </p:nvSpPr>
          <p:spPr>
            <a:xfrm>
              <a:off x="4678227" y="2332117"/>
              <a:ext cx="1319652" cy="1911794"/>
            </a:xfrm>
            <a:custGeom>
              <a:avLst/>
              <a:gdLst>
                <a:gd name="connsiteX0" fmla="*/ 0 w 1225217"/>
                <a:gd name="connsiteY0" fmla="*/ 0 h 1851716"/>
                <a:gd name="connsiteX1" fmla="*/ 1225217 w 1225217"/>
                <a:gd name="connsiteY1" fmla="*/ 0 h 1851716"/>
                <a:gd name="connsiteX2" fmla="*/ 1225217 w 1225217"/>
                <a:gd name="connsiteY2" fmla="*/ 1851716 h 1851716"/>
                <a:gd name="connsiteX3" fmla="*/ 0 w 1225217"/>
                <a:gd name="connsiteY3" fmla="*/ 1851716 h 1851716"/>
                <a:gd name="connsiteX4" fmla="*/ 0 w 1225217"/>
                <a:gd name="connsiteY4" fmla="*/ 0 h 18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217" h="1851716">
                  <a:moveTo>
                    <a:pt x="0" y="0"/>
                  </a:moveTo>
                  <a:lnTo>
                    <a:pt x="1225217" y="0"/>
                  </a:lnTo>
                  <a:lnTo>
                    <a:pt x="1225217" y="1851716"/>
                  </a:lnTo>
                  <a:lnTo>
                    <a:pt x="0" y="1851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6D06">
                <a:alpha val="20000"/>
              </a:srgbClr>
            </a:solidFill>
          </p:spPr>
          <p:style>
            <a:lnRef idx="2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008" tIns="64008" rIns="85344" bIns="96012" numCol="1" spcCol="1270" anchor="ctr" anchorCtr="0">
              <a:noAutofit/>
            </a:bodyPr>
            <a:lstStyle/>
            <a:p>
              <a:pPr marL="9525" marR="0" lvl="1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Generate </a:t>
              </a:r>
              <a:r>
                <a:rPr kumimoji="0" lang="en-GB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OpenAPI</a:t>
              </a: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specs. Enforce Hybrid spec-driven, BDD, TDD development. AI-generated sequence diagrams and service contracts</a:t>
              </a:r>
              <a:endPara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DB173D39-1860-62AD-2825-0792B9399089}"/>
                </a:ext>
              </a:extLst>
            </p:cNvPr>
            <p:cNvSpPr/>
            <p:nvPr/>
          </p:nvSpPr>
          <p:spPr>
            <a:xfrm>
              <a:off x="6131642" y="2332117"/>
              <a:ext cx="1319652" cy="1911794"/>
            </a:xfrm>
            <a:custGeom>
              <a:avLst/>
              <a:gdLst>
                <a:gd name="connsiteX0" fmla="*/ 0 w 1225217"/>
                <a:gd name="connsiteY0" fmla="*/ 0 h 1851716"/>
                <a:gd name="connsiteX1" fmla="*/ 1225217 w 1225217"/>
                <a:gd name="connsiteY1" fmla="*/ 0 h 1851716"/>
                <a:gd name="connsiteX2" fmla="*/ 1225217 w 1225217"/>
                <a:gd name="connsiteY2" fmla="*/ 1851716 h 1851716"/>
                <a:gd name="connsiteX3" fmla="*/ 0 w 1225217"/>
                <a:gd name="connsiteY3" fmla="*/ 1851716 h 1851716"/>
                <a:gd name="connsiteX4" fmla="*/ 0 w 1225217"/>
                <a:gd name="connsiteY4" fmla="*/ 0 h 18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217" h="1851716">
                  <a:moveTo>
                    <a:pt x="0" y="0"/>
                  </a:moveTo>
                  <a:lnTo>
                    <a:pt x="1225217" y="0"/>
                  </a:lnTo>
                  <a:lnTo>
                    <a:pt x="1225217" y="1851716"/>
                  </a:lnTo>
                  <a:lnTo>
                    <a:pt x="0" y="1851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6D06">
                <a:alpha val="2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008" tIns="64008" rIns="85344" bIns="96012" numCol="1" spcCol="1270" anchor="ctr" anchorCtr="0">
              <a:noAutofit/>
            </a:bodyPr>
            <a:lstStyle/>
            <a:p>
              <a:pPr marL="114300" marR="0" lvl="1" indent="-11430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Code generation</a:t>
              </a:r>
              <a:b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Code+</a:t>
              </a: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FE87928-BEEB-F5A4-A265-4564852B626F}"/>
                </a:ext>
              </a:extLst>
            </p:cNvPr>
            <p:cNvSpPr/>
            <p:nvPr/>
          </p:nvSpPr>
          <p:spPr>
            <a:xfrm>
              <a:off x="7575432" y="2332117"/>
              <a:ext cx="1319652" cy="1911794"/>
            </a:xfrm>
            <a:custGeom>
              <a:avLst/>
              <a:gdLst>
                <a:gd name="connsiteX0" fmla="*/ 0 w 1225217"/>
                <a:gd name="connsiteY0" fmla="*/ 0 h 1851716"/>
                <a:gd name="connsiteX1" fmla="*/ 1225217 w 1225217"/>
                <a:gd name="connsiteY1" fmla="*/ 0 h 1851716"/>
                <a:gd name="connsiteX2" fmla="*/ 1225217 w 1225217"/>
                <a:gd name="connsiteY2" fmla="*/ 1851716 h 1851716"/>
                <a:gd name="connsiteX3" fmla="*/ 0 w 1225217"/>
                <a:gd name="connsiteY3" fmla="*/ 1851716 h 1851716"/>
                <a:gd name="connsiteX4" fmla="*/ 0 w 1225217"/>
                <a:gd name="connsiteY4" fmla="*/ 0 h 18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217" h="1851716">
                  <a:moveTo>
                    <a:pt x="0" y="0"/>
                  </a:moveTo>
                  <a:lnTo>
                    <a:pt x="1225217" y="0"/>
                  </a:lnTo>
                  <a:lnTo>
                    <a:pt x="1225217" y="1851716"/>
                  </a:lnTo>
                  <a:lnTo>
                    <a:pt x="0" y="1851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6D06">
                <a:alpha val="2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008" tIns="64008" rIns="85344" bIns="96012" numCol="1" spcCol="1270" anchor="ctr" anchorCtr="0">
              <a:noAutofit/>
            </a:bodyPr>
            <a:lstStyle/>
            <a:p>
              <a:pPr marL="9525" marR="0" lvl="1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Functional, integration, Ay11, security, compliance, performance testing</a:t>
              </a:r>
              <a:endPara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425AA36-2E03-181D-3E7B-A2D2D4362768}"/>
                </a:ext>
              </a:extLst>
            </p:cNvPr>
            <p:cNvSpPr/>
            <p:nvPr/>
          </p:nvSpPr>
          <p:spPr>
            <a:xfrm>
              <a:off x="9028847" y="2332117"/>
              <a:ext cx="1319652" cy="1911794"/>
            </a:xfrm>
            <a:custGeom>
              <a:avLst/>
              <a:gdLst>
                <a:gd name="connsiteX0" fmla="*/ 0 w 1225217"/>
                <a:gd name="connsiteY0" fmla="*/ 0 h 1851716"/>
                <a:gd name="connsiteX1" fmla="*/ 1225217 w 1225217"/>
                <a:gd name="connsiteY1" fmla="*/ 0 h 1851716"/>
                <a:gd name="connsiteX2" fmla="*/ 1225217 w 1225217"/>
                <a:gd name="connsiteY2" fmla="*/ 1851716 h 1851716"/>
                <a:gd name="connsiteX3" fmla="*/ 0 w 1225217"/>
                <a:gd name="connsiteY3" fmla="*/ 1851716 h 1851716"/>
                <a:gd name="connsiteX4" fmla="*/ 0 w 1225217"/>
                <a:gd name="connsiteY4" fmla="*/ 0 h 18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217" h="1851716">
                  <a:moveTo>
                    <a:pt x="0" y="0"/>
                  </a:moveTo>
                  <a:lnTo>
                    <a:pt x="1225217" y="0"/>
                  </a:lnTo>
                  <a:lnTo>
                    <a:pt x="1225217" y="1851716"/>
                  </a:lnTo>
                  <a:lnTo>
                    <a:pt x="0" y="1851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6D06">
                <a:alpha val="2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008" tIns="64008" rIns="85344" bIns="96012" numCol="1" spcCol="1270" anchor="ctr" anchorCtr="0">
              <a:noAutofit/>
            </a:bodyPr>
            <a:lstStyle/>
            <a:p>
              <a:pPr marL="9525" marR="0" lvl="1" indent="-9525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Predict deployment risks. AI-based canary release planning. Automated rollback strategies</a:t>
              </a:r>
              <a:endPara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3329AC7D-55DB-C296-FD8F-5107C4DFD9A8}"/>
                </a:ext>
              </a:extLst>
            </p:cNvPr>
            <p:cNvSpPr/>
            <p:nvPr/>
          </p:nvSpPr>
          <p:spPr>
            <a:xfrm>
              <a:off x="10484846" y="2332117"/>
              <a:ext cx="1319652" cy="1911794"/>
            </a:xfrm>
            <a:custGeom>
              <a:avLst/>
              <a:gdLst>
                <a:gd name="connsiteX0" fmla="*/ 0 w 1225217"/>
                <a:gd name="connsiteY0" fmla="*/ 0 h 1851716"/>
                <a:gd name="connsiteX1" fmla="*/ 1225217 w 1225217"/>
                <a:gd name="connsiteY1" fmla="*/ 0 h 1851716"/>
                <a:gd name="connsiteX2" fmla="*/ 1225217 w 1225217"/>
                <a:gd name="connsiteY2" fmla="*/ 1851716 h 1851716"/>
                <a:gd name="connsiteX3" fmla="*/ 0 w 1225217"/>
                <a:gd name="connsiteY3" fmla="*/ 1851716 h 1851716"/>
                <a:gd name="connsiteX4" fmla="*/ 0 w 1225217"/>
                <a:gd name="connsiteY4" fmla="*/ 0 h 18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217" h="1851716">
                  <a:moveTo>
                    <a:pt x="0" y="0"/>
                  </a:moveTo>
                  <a:lnTo>
                    <a:pt x="1225217" y="0"/>
                  </a:lnTo>
                  <a:lnTo>
                    <a:pt x="1225217" y="1851716"/>
                  </a:lnTo>
                  <a:lnTo>
                    <a:pt x="0" y="1851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6D06">
                <a:alpha val="2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008" tIns="64008" rIns="85344" bIns="96012" numCol="1" spcCol="1270" anchor="ctr" anchorCtr="0">
              <a:noAutofit/>
            </a:bodyPr>
            <a:lstStyle/>
            <a:p>
              <a:pPr marL="9525" marR="0" lvl="1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AI quality and trustworthiness. Summarize logs and generate reports. AI-driven root cause analysis. Continuous compliance validation</a:t>
              </a:r>
              <a:endPara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7C2F70DD-E688-C7C2-62AE-60B1434B4AE9}"/>
                </a:ext>
              </a:extLst>
            </p:cNvPr>
            <p:cNvSpPr/>
            <p:nvPr/>
          </p:nvSpPr>
          <p:spPr>
            <a:xfrm>
              <a:off x="327608" y="4384023"/>
              <a:ext cx="1319652" cy="1306014"/>
            </a:xfrm>
            <a:custGeom>
              <a:avLst/>
              <a:gdLst>
                <a:gd name="connsiteX0" fmla="*/ 0 w 1225217"/>
                <a:gd name="connsiteY0" fmla="*/ 0 h 1851716"/>
                <a:gd name="connsiteX1" fmla="*/ 1225217 w 1225217"/>
                <a:gd name="connsiteY1" fmla="*/ 0 h 1851716"/>
                <a:gd name="connsiteX2" fmla="*/ 1225217 w 1225217"/>
                <a:gd name="connsiteY2" fmla="*/ 1851716 h 1851716"/>
                <a:gd name="connsiteX3" fmla="*/ 0 w 1225217"/>
                <a:gd name="connsiteY3" fmla="*/ 1851716 h 1851716"/>
                <a:gd name="connsiteX4" fmla="*/ 0 w 1225217"/>
                <a:gd name="connsiteY4" fmla="*/ 0 h 18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217" h="1851716">
                  <a:moveTo>
                    <a:pt x="0" y="0"/>
                  </a:moveTo>
                  <a:lnTo>
                    <a:pt x="1225217" y="0"/>
                  </a:lnTo>
                  <a:lnTo>
                    <a:pt x="1225217" y="1851716"/>
                  </a:lnTo>
                  <a:lnTo>
                    <a:pt x="0" y="1851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008" tIns="64008" rIns="85344" bIns="96012" numCol="1" spcCol="127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Atlassian AI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M365 co-pilot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Miro AI</a:t>
              </a: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C53DF66-2307-0B5D-FBD9-593625C895B1}"/>
                </a:ext>
              </a:extLst>
            </p:cNvPr>
            <p:cNvSpPr/>
            <p:nvPr/>
          </p:nvSpPr>
          <p:spPr>
            <a:xfrm>
              <a:off x="1771397" y="4384023"/>
              <a:ext cx="1319652" cy="1306014"/>
            </a:xfrm>
            <a:custGeom>
              <a:avLst/>
              <a:gdLst>
                <a:gd name="connsiteX0" fmla="*/ 0 w 1225217"/>
                <a:gd name="connsiteY0" fmla="*/ 0 h 1851716"/>
                <a:gd name="connsiteX1" fmla="*/ 1225217 w 1225217"/>
                <a:gd name="connsiteY1" fmla="*/ 0 h 1851716"/>
                <a:gd name="connsiteX2" fmla="*/ 1225217 w 1225217"/>
                <a:gd name="connsiteY2" fmla="*/ 1851716 h 1851716"/>
                <a:gd name="connsiteX3" fmla="*/ 0 w 1225217"/>
                <a:gd name="connsiteY3" fmla="*/ 1851716 h 1851716"/>
                <a:gd name="connsiteX4" fmla="*/ 0 w 1225217"/>
                <a:gd name="connsiteY4" fmla="*/ 0 h 18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217" h="1851716">
                  <a:moveTo>
                    <a:pt x="0" y="0"/>
                  </a:moveTo>
                  <a:lnTo>
                    <a:pt x="1225217" y="0"/>
                  </a:lnTo>
                  <a:lnTo>
                    <a:pt x="1225217" y="1851716"/>
                  </a:lnTo>
                  <a:lnTo>
                    <a:pt x="0" y="1851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008" tIns="64008" rIns="85344" bIns="96012" numCol="1" spcCol="127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Figma AI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Loveable</a:t>
              </a: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EF649DF9-5636-3D35-C941-38B46B5D9013}"/>
                </a:ext>
              </a:extLst>
            </p:cNvPr>
            <p:cNvSpPr/>
            <p:nvPr/>
          </p:nvSpPr>
          <p:spPr>
            <a:xfrm>
              <a:off x="3215187" y="4384023"/>
              <a:ext cx="1319652" cy="1306014"/>
            </a:xfrm>
            <a:custGeom>
              <a:avLst/>
              <a:gdLst>
                <a:gd name="connsiteX0" fmla="*/ 0 w 1225217"/>
                <a:gd name="connsiteY0" fmla="*/ 0 h 1851716"/>
                <a:gd name="connsiteX1" fmla="*/ 1225217 w 1225217"/>
                <a:gd name="connsiteY1" fmla="*/ 0 h 1851716"/>
                <a:gd name="connsiteX2" fmla="*/ 1225217 w 1225217"/>
                <a:gd name="connsiteY2" fmla="*/ 1851716 h 1851716"/>
                <a:gd name="connsiteX3" fmla="*/ 0 w 1225217"/>
                <a:gd name="connsiteY3" fmla="*/ 1851716 h 1851716"/>
                <a:gd name="connsiteX4" fmla="*/ 0 w 1225217"/>
                <a:gd name="connsiteY4" fmla="*/ 0 h 18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217" h="1851716">
                  <a:moveTo>
                    <a:pt x="0" y="0"/>
                  </a:moveTo>
                  <a:lnTo>
                    <a:pt x="1225217" y="0"/>
                  </a:lnTo>
                  <a:lnTo>
                    <a:pt x="1225217" y="1851716"/>
                  </a:lnTo>
                  <a:lnTo>
                    <a:pt x="0" y="1851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008" tIns="64008" rIns="85344" bIns="96012" numCol="1" spcCol="127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Figma AI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Lovable</a:t>
              </a:r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3160EA09-0B46-B29A-3A13-343B59975EED}"/>
                </a:ext>
              </a:extLst>
            </p:cNvPr>
            <p:cNvSpPr/>
            <p:nvPr/>
          </p:nvSpPr>
          <p:spPr>
            <a:xfrm>
              <a:off x="4678227" y="4384023"/>
              <a:ext cx="1319652" cy="1306014"/>
            </a:xfrm>
            <a:custGeom>
              <a:avLst/>
              <a:gdLst>
                <a:gd name="connsiteX0" fmla="*/ 0 w 1225217"/>
                <a:gd name="connsiteY0" fmla="*/ 0 h 1851716"/>
                <a:gd name="connsiteX1" fmla="*/ 1225217 w 1225217"/>
                <a:gd name="connsiteY1" fmla="*/ 0 h 1851716"/>
                <a:gd name="connsiteX2" fmla="*/ 1225217 w 1225217"/>
                <a:gd name="connsiteY2" fmla="*/ 1851716 h 1851716"/>
                <a:gd name="connsiteX3" fmla="*/ 0 w 1225217"/>
                <a:gd name="connsiteY3" fmla="*/ 1851716 h 1851716"/>
                <a:gd name="connsiteX4" fmla="*/ 0 w 1225217"/>
                <a:gd name="connsiteY4" fmla="*/ 0 h 18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217" h="1851716">
                  <a:moveTo>
                    <a:pt x="0" y="0"/>
                  </a:moveTo>
                  <a:lnTo>
                    <a:pt x="1225217" y="0"/>
                  </a:lnTo>
                  <a:lnTo>
                    <a:pt x="1225217" y="1851716"/>
                  </a:lnTo>
                  <a:lnTo>
                    <a:pt x="0" y="1851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008" tIns="64008" rIns="85344" bIns="96012" numCol="1" spcCol="127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Github</a:t>
              </a: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co-pilot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Claude code (with skills &amp; tools)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Draw.io</a:t>
              </a: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Mermaid</a:t>
              </a: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ADA1F62-8F63-71A9-9DB7-BAB9D1D052B1}"/>
                </a:ext>
              </a:extLst>
            </p:cNvPr>
            <p:cNvSpPr/>
            <p:nvPr/>
          </p:nvSpPr>
          <p:spPr>
            <a:xfrm>
              <a:off x="6131642" y="4384023"/>
              <a:ext cx="1319652" cy="1306014"/>
            </a:xfrm>
            <a:custGeom>
              <a:avLst/>
              <a:gdLst>
                <a:gd name="connsiteX0" fmla="*/ 0 w 1225217"/>
                <a:gd name="connsiteY0" fmla="*/ 0 h 1851716"/>
                <a:gd name="connsiteX1" fmla="*/ 1225217 w 1225217"/>
                <a:gd name="connsiteY1" fmla="*/ 0 h 1851716"/>
                <a:gd name="connsiteX2" fmla="*/ 1225217 w 1225217"/>
                <a:gd name="connsiteY2" fmla="*/ 1851716 h 1851716"/>
                <a:gd name="connsiteX3" fmla="*/ 0 w 1225217"/>
                <a:gd name="connsiteY3" fmla="*/ 1851716 h 1851716"/>
                <a:gd name="connsiteX4" fmla="*/ 0 w 1225217"/>
                <a:gd name="connsiteY4" fmla="*/ 0 h 18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217" h="1851716">
                  <a:moveTo>
                    <a:pt x="0" y="0"/>
                  </a:moveTo>
                  <a:lnTo>
                    <a:pt x="1225217" y="0"/>
                  </a:lnTo>
                  <a:lnTo>
                    <a:pt x="1225217" y="1851716"/>
                  </a:lnTo>
                  <a:lnTo>
                    <a:pt x="0" y="1851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008" tIns="64008" rIns="85344" bIns="96012" numCol="1" spcCol="127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Github</a:t>
              </a: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co-pilot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Claude code (with skills &amp; tools)</a:t>
              </a:r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B5981CFD-285B-8423-9C5C-8A813DACC7A9}"/>
                </a:ext>
              </a:extLst>
            </p:cNvPr>
            <p:cNvSpPr/>
            <p:nvPr/>
          </p:nvSpPr>
          <p:spPr>
            <a:xfrm>
              <a:off x="7575432" y="4384023"/>
              <a:ext cx="1319652" cy="1306014"/>
            </a:xfrm>
            <a:custGeom>
              <a:avLst/>
              <a:gdLst>
                <a:gd name="connsiteX0" fmla="*/ 0 w 1225217"/>
                <a:gd name="connsiteY0" fmla="*/ 0 h 1851716"/>
                <a:gd name="connsiteX1" fmla="*/ 1225217 w 1225217"/>
                <a:gd name="connsiteY1" fmla="*/ 0 h 1851716"/>
                <a:gd name="connsiteX2" fmla="*/ 1225217 w 1225217"/>
                <a:gd name="connsiteY2" fmla="*/ 1851716 h 1851716"/>
                <a:gd name="connsiteX3" fmla="*/ 0 w 1225217"/>
                <a:gd name="connsiteY3" fmla="*/ 1851716 h 1851716"/>
                <a:gd name="connsiteX4" fmla="*/ 0 w 1225217"/>
                <a:gd name="connsiteY4" fmla="*/ 0 h 18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217" h="1851716">
                  <a:moveTo>
                    <a:pt x="0" y="0"/>
                  </a:moveTo>
                  <a:lnTo>
                    <a:pt x="1225217" y="0"/>
                  </a:lnTo>
                  <a:lnTo>
                    <a:pt x="1225217" y="1851716"/>
                  </a:lnTo>
                  <a:lnTo>
                    <a:pt x="0" y="1851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008" tIns="64008" rIns="85344" bIns="96012" numCol="1" spcCol="1270" anchor="ctr" anchorCtr="0">
              <a:noAutofit/>
            </a:bodyPr>
            <a:lstStyle/>
            <a:p>
              <a:pPr marL="9525" marR="0" lvl="1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9525" marR="0" lvl="1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Github</a:t>
              </a: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co-pilot</a:t>
              </a:r>
            </a:p>
            <a:p>
              <a:pPr marL="9525" marR="0" lvl="1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Claude code (with skills &amp; tools)</a:t>
              </a:r>
            </a:p>
            <a:p>
              <a:pPr marL="9525" marR="0" lvl="1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9525" marR="0" lvl="1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MCP - Playwright</a:t>
              </a: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A219CC5-324D-156B-F51E-D3EA702D0BFC}"/>
                </a:ext>
              </a:extLst>
            </p:cNvPr>
            <p:cNvSpPr/>
            <p:nvPr/>
          </p:nvSpPr>
          <p:spPr>
            <a:xfrm>
              <a:off x="9028847" y="4384023"/>
              <a:ext cx="1319652" cy="1306014"/>
            </a:xfrm>
            <a:custGeom>
              <a:avLst/>
              <a:gdLst>
                <a:gd name="connsiteX0" fmla="*/ 0 w 1225217"/>
                <a:gd name="connsiteY0" fmla="*/ 0 h 1851716"/>
                <a:gd name="connsiteX1" fmla="*/ 1225217 w 1225217"/>
                <a:gd name="connsiteY1" fmla="*/ 0 h 1851716"/>
                <a:gd name="connsiteX2" fmla="*/ 1225217 w 1225217"/>
                <a:gd name="connsiteY2" fmla="*/ 1851716 h 1851716"/>
                <a:gd name="connsiteX3" fmla="*/ 0 w 1225217"/>
                <a:gd name="connsiteY3" fmla="*/ 1851716 h 1851716"/>
                <a:gd name="connsiteX4" fmla="*/ 0 w 1225217"/>
                <a:gd name="connsiteY4" fmla="*/ 0 h 18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217" h="1851716">
                  <a:moveTo>
                    <a:pt x="0" y="0"/>
                  </a:moveTo>
                  <a:lnTo>
                    <a:pt x="1225217" y="0"/>
                  </a:lnTo>
                  <a:lnTo>
                    <a:pt x="1225217" y="1851716"/>
                  </a:lnTo>
                  <a:lnTo>
                    <a:pt x="0" y="1851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008" tIns="64008" rIns="85344" bIns="96012" numCol="1" spcCol="127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Github</a:t>
              </a: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co-pilot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Github</a:t>
              </a: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actions</a:t>
              </a: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4A419CEC-3A6D-C6B4-848F-6592094CFD5E}"/>
                </a:ext>
              </a:extLst>
            </p:cNvPr>
            <p:cNvSpPr/>
            <p:nvPr/>
          </p:nvSpPr>
          <p:spPr>
            <a:xfrm>
              <a:off x="10484846" y="4384023"/>
              <a:ext cx="1319652" cy="1306014"/>
            </a:xfrm>
            <a:custGeom>
              <a:avLst/>
              <a:gdLst>
                <a:gd name="connsiteX0" fmla="*/ 0 w 1225217"/>
                <a:gd name="connsiteY0" fmla="*/ 0 h 1851716"/>
                <a:gd name="connsiteX1" fmla="*/ 1225217 w 1225217"/>
                <a:gd name="connsiteY1" fmla="*/ 0 h 1851716"/>
                <a:gd name="connsiteX2" fmla="*/ 1225217 w 1225217"/>
                <a:gd name="connsiteY2" fmla="*/ 1851716 h 1851716"/>
                <a:gd name="connsiteX3" fmla="*/ 0 w 1225217"/>
                <a:gd name="connsiteY3" fmla="*/ 1851716 h 1851716"/>
                <a:gd name="connsiteX4" fmla="*/ 0 w 1225217"/>
                <a:gd name="connsiteY4" fmla="*/ 0 h 18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217" h="1851716">
                  <a:moveTo>
                    <a:pt x="0" y="0"/>
                  </a:moveTo>
                  <a:lnTo>
                    <a:pt x="1225217" y="0"/>
                  </a:lnTo>
                  <a:lnTo>
                    <a:pt x="1225217" y="1851716"/>
                  </a:lnTo>
                  <a:lnTo>
                    <a:pt x="0" y="1851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008" tIns="64008" rIns="85344" bIns="96012" numCol="1" spcCol="1270" anchor="ctr" anchorCtr="0">
              <a:noAutofit/>
            </a:bodyPr>
            <a:lstStyle/>
            <a:p>
              <a:pPr marL="9525" marR="0" lvl="1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Splunk observability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ED5204A-F829-D40C-AA4D-135EDCC155AD}"/>
              </a:ext>
            </a:extLst>
          </p:cNvPr>
          <p:cNvSpPr txBox="1"/>
          <p:nvPr/>
        </p:nvSpPr>
        <p:spPr>
          <a:xfrm>
            <a:off x="248669" y="5206660"/>
            <a:ext cx="11786449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During the modernization cycle, the focus will be on the last 4 phases, Build to Ops since its AS-IS movement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After modernization with development of new features, TCS suggests AI intervention in the first 4 phases, Requirements -&gt; Arch as well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augments existing SDLC tools and practices. It does not replace current platforms or processes. Consistent with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xxxx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principle of innovating by building on core strengths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Tools are indicative not exhaustive</a:t>
            </a:r>
            <a:b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L" sz="11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*Note: TCS is open to other AI development and testing tools based on PostNL’s AI </a:t>
            </a:r>
            <a:r>
              <a:rPr kumimoji="0" lang="en-NL" sz="11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CoE</a:t>
            </a:r>
            <a:r>
              <a:rPr kumimoji="0" lang="en-NL" sz="11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and EU guidance. This will be applicable for all mentions like </a:t>
            </a:r>
            <a:r>
              <a:rPr kumimoji="0" lang="en-NL" sz="11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Github</a:t>
            </a:r>
            <a:r>
              <a:rPr kumimoji="0" lang="en-NL" sz="11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co-pilot/Claude in this proposal.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B311DC-3E28-25A9-D4D8-86E07578E70C}"/>
              </a:ext>
            </a:extLst>
          </p:cNvPr>
          <p:cNvSpPr txBox="1"/>
          <p:nvPr/>
        </p:nvSpPr>
        <p:spPr>
          <a:xfrm rot="16200000">
            <a:off x="-160606" y="1232870"/>
            <a:ext cx="649938" cy="277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8B6632-49E3-5A81-E5C6-80936E7C010E}"/>
              </a:ext>
            </a:extLst>
          </p:cNvPr>
          <p:cNvSpPr txBox="1"/>
          <p:nvPr/>
        </p:nvSpPr>
        <p:spPr>
          <a:xfrm rot="16200000">
            <a:off x="-243226" y="2506068"/>
            <a:ext cx="854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756EE9-0FD7-45D1-5E2A-91A1F0D5FCB6}"/>
              </a:ext>
            </a:extLst>
          </p:cNvPr>
          <p:cNvSpPr txBox="1"/>
          <p:nvPr/>
        </p:nvSpPr>
        <p:spPr>
          <a:xfrm rot="16200000">
            <a:off x="-236185" y="4096283"/>
            <a:ext cx="854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48C981-9D53-1A70-73C9-BF0DE06B82C5}"/>
              </a:ext>
            </a:extLst>
          </p:cNvPr>
          <p:cNvSpPr txBox="1"/>
          <p:nvPr/>
        </p:nvSpPr>
        <p:spPr>
          <a:xfrm>
            <a:off x="338871" y="742495"/>
            <a:ext cx="9384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is a subset of AI capabilities that are relevant for accelerating the SDLC during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xxxx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core modernization.   </a:t>
            </a:r>
          </a:p>
        </p:txBody>
      </p:sp>
    </p:spTree>
    <p:extLst>
      <p:ext uri="{BB962C8B-B14F-4D97-AF65-F5344CB8AC3E}">
        <p14:creationId xmlns:p14="http://schemas.microsoft.com/office/powerpoint/2010/main" val="211590225"/>
      </p:ext>
    </p:extLst>
  </p:cSld>
  <p:clrMapOvr>
    <a:masterClrMapping/>
  </p:clrMapOvr>
</p:sld>
</file>

<file path=ppt/theme/theme1.xml><?xml version="1.0" encoding="utf-8"?>
<a:theme xmlns:a="http://schemas.openxmlformats.org/drawingml/2006/main" name="3_Content Slides-Black">
  <a:themeElements>
    <a:clrScheme name="TCS New Color Palette">
      <a:dk1>
        <a:sysClr val="windowText" lastClr="000000"/>
      </a:dk1>
      <a:lt1>
        <a:sysClr val="window" lastClr="FFFFFF"/>
      </a:lt1>
      <a:dk2>
        <a:srgbClr val="1E2323"/>
      </a:dk2>
      <a:lt2>
        <a:srgbClr val="F4F3F9"/>
      </a:lt2>
      <a:accent1>
        <a:srgbClr val="64E6E1"/>
      </a:accent1>
      <a:accent2>
        <a:srgbClr val="007DC5"/>
      </a:accent2>
      <a:accent3>
        <a:srgbClr val="4D2F9E"/>
      </a:accent3>
      <a:accent4>
        <a:srgbClr val="BE0046"/>
      </a:accent4>
      <a:accent5>
        <a:srgbClr val="EB5000"/>
      </a:accent5>
      <a:accent6>
        <a:srgbClr val="FFE600"/>
      </a:accent6>
      <a:hlink>
        <a:srgbClr val="007DC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White">
      <a:srgbClr val="F4F3F9"/>
    </a:custClr>
    <a:custClr name="TCS Black">
      <a:srgbClr val="1E2323"/>
    </a:custClr>
    <a:custClr name="TCS Pink">
      <a:srgbClr val="F03782"/>
    </a:custClr>
    <a:custClr name="TCS Green 1">
      <a:srgbClr val="00ACAC"/>
    </a:custClr>
    <a:custClr name="TCS Green 2">
      <a:srgbClr val="1ACFCF"/>
    </a:custClr>
    <a:custClr name="TCS Green 3">
      <a:srgbClr val="64E6E1"/>
    </a:custClr>
    <a:custClr name="TCS Green 4">
      <a:srgbClr val="83EBE7"/>
    </a:custClr>
    <a:custClr name="TCS Green 5">
      <a:srgbClr val="A2F0ED"/>
    </a:custClr>
    <a:custClr name="TCS Green 6">
      <a:srgbClr val="C1F5F3"/>
    </a:custClr>
    <a:custClr name="TCS Blue 1">
      <a:srgbClr val="154B8C"/>
    </a:custClr>
    <a:custClr name="TCS Blue 2">
      <a:srgbClr val="005B9C"/>
    </a:custClr>
    <a:custClr name="TCS Blue 3">
      <a:srgbClr val="007DC5"/>
    </a:custClr>
    <a:custClr name="TCS Blue 4">
      <a:srgbClr val="47A3EB"/>
    </a:custClr>
    <a:custClr name="TCS Blue 5">
      <a:srgbClr val="75BAF0"/>
    </a:custClr>
    <a:custClr name="TCS Blue 6">
      <a:srgbClr val="A3D1F5"/>
    </a:custClr>
    <a:custClr name="TCS Purple 1">
      <a:srgbClr val="4D0092"/>
    </a:custClr>
    <a:custClr name="TCS Purple 2">
      <a:srgbClr val="4D129E"/>
    </a:custClr>
    <a:custClr name="TCS Purple 3">
      <a:srgbClr val="4D2F9E"/>
    </a:custClr>
    <a:custClr name="TCS Purple 4">
      <a:srgbClr val="7159B1"/>
    </a:custClr>
    <a:custClr name="TCS Purple 5">
      <a:srgbClr val="9482C5"/>
    </a:custClr>
    <a:custClr name="TCS Purple 6">
      <a:srgbClr val="B8ACD8"/>
    </a:custClr>
    <a:custClr name="TCS Magenta 1">
      <a:srgbClr val="8F0035"/>
    </a:custClr>
    <a:custClr name="TCS Magenta 2">
      <a:srgbClr val="A30046"/>
    </a:custClr>
    <a:custClr name="TCS Magenta 3">
      <a:srgbClr val="BE0046"/>
    </a:custClr>
    <a:custClr name="TCS Magenta 4">
      <a:srgbClr val="CB336B"/>
    </a:custClr>
    <a:custClr name="TCS Magenta 5">
      <a:srgbClr val="D86690"/>
    </a:custClr>
    <a:custClr name="TCS Magenta 6">
      <a:srgbClr val="E599B5"/>
    </a:custClr>
    <a:custClr name="TCS Orange 1">
      <a:srgbClr val="B03C00"/>
    </a:custClr>
    <a:custClr name="TCS Orange 2">
      <a:srgbClr val="CD5000"/>
    </a:custClr>
    <a:custClr name="TCS Orange 3">
      <a:srgbClr val="EB5000"/>
    </a:custClr>
    <a:custClr name="TCS Orange 4">
      <a:srgbClr val="EF7333"/>
    </a:custClr>
    <a:custClr name="TCS Orange 5">
      <a:srgbClr val="F39666"/>
    </a:custClr>
    <a:custClr name="TCS Orange 6">
      <a:srgbClr val="F7B999"/>
    </a:custClr>
    <a:custClr name="TCS Yellow 1">
      <a:srgbClr val="FFBC00"/>
    </a:custClr>
    <a:custClr name="TCS Yellow 2">
      <a:srgbClr val="FFD300"/>
    </a:custClr>
    <a:custClr name="TCS Yellow 3">
      <a:srgbClr val="FFE600"/>
    </a:custClr>
    <a:custClr name="TCS Yellow 4">
      <a:srgbClr val="FFEB33"/>
    </a:custClr>
    <a:custClr name="TCS Yellow 5">
      <a:srgbClr val="FFF066"/>
    </a:custClr>
    <a:custClr name="TCS Yellow 6">
      <a:srgbClr val="FFF599"/>
    </a:custClr>
  </a:custClrLst>
  <a:extLst>
    <a:ext uri="{05A4C25C-085E-4340-85A3-A5531E510DB2}">
      <thm15:themeFamily xmlns:thm15="http://schemas.microsoft.com/office/thememl/2012/main" name="TCS Building on belief PPT template" id="{DDDA585A-DC68-4F4F-89CC-C3A7FEEEEAA5}" vid="{088422CC-BB39-473A-8192-AA507A799B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326</Words>
  <Application>Microsoft Office PowerPoint</Application>
  <PresentationFormat>Widescreen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Courier New</vt:lpstr>
      <vt:lpstr>Houschka Rounded Alt DemiBold</vt:lpstr>
      <vt:lpstr>Symbol</vt:lpstr>
      <vt:lpstr>3_Content Slides-Black</vt:lpstr>
      <vt:lpstr>Layer 2 | AI opportunities for SDLC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Quint Vodegel</dc:creator>
  <cp:lastModifiedBy>Quint Vodegel</cp:lastModifiedBy>
  <cp:revision>2</cp:revision>
  <dcterms:created xsi:type="dcterms:W3CDTF">2026-07-30T14:17:58Z</dcterms:created>
  <dcterms:modified xsi:type="dcterms:W3CDTF">2026-07-30T15:33:29Z</dcterms:modified>
</cp:coreProperties>
</file>