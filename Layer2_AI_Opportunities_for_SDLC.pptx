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Layer 2 | AI opportunities for SDLC</a:t>
            </a:r>
          </a:p>
          <a:p>
            <a:pPr>
              <a:spcBef>
                <a:spcPts val="4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There is a subset of AI capabilities that are relevant for accelerating the SDLC during xxxx core modernization.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1143000"/>
            <a:ext cx="411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64646"/>
                </a:solidFill>
                <a:latin typeface="Arial"/>
              </a:defRPr>
            </a:pPr>
            <a:r>
              <a:t>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737360"/>
            <a:ext cx="41148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64646"/>
                </a:solidFill>
                <a:latin typeface="Arial"/>
              </a:defRPr>
            </a:pPr>
            <a: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3794760"/>
            <a:ext cx="411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64646"/>
                </a:solidFill>
                <a:latin typeface="Arial"/>
              </a:defRPr>
            </a:pPr>
            <a:r>
              <a:t>How</a:t>
            </a:r>
          </a:p>
        </p:txBody>
      </p:sp>
      <p:sp>
        <p:nvSpPr>
          <p:cNvPr id="6" name="Chevron 5"/>
          <p:cNvSpPr/>
          <p:nvPr/>
        </p:nvSpPr>
        <p:spPr>
          <a:xfrm>
            <a:off x="594360" y="1143000"/>
            <a:ext cx="1324737" cy="502920"/>
          </a:xfrm>
          <a:prstGeom prst="chevron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19072"/>
            <a:ext cx="1324737" cy="1965960"/>
          </a:xfrm>
          <a:prstGeom prst="rect">
            <a:avLst/>
          </a:prstGeom>
          <a:solidFill>
            <a:srgbClr val="FD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Summarize requirements, draft specs. Generate epics and user stories. AI-driven INVEST story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749039"/>
            <a:ext cx="1324737" cy="1371600"/>
          </a:xfrm>
          <a:prstGeom prst="rect">
            <a:avLst/>
          </a:prstGeom>
          <a:solidFill>
            <a:srgbClr val="525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Atlassian AI</a:t>
            </a:r>
            <a:br/>
            <a:r>
              <a:t>M365 co-pilot</a:t>
            </a:r>
            <a:br/>
            <a:r>
              <a:t>Miro AI</a:t>
            </a:r>
          </a:p>
        </p:txBody>
      </p:sp>
      <p:sp>
        <p:nvSpPr>
          <p:cNvPr id="9" name="Chevron 8"/>
          <p:cNvSpPr/>
          <p:nvPr/>
        </p:nvSpPr>
        <p:spPr>
          <a:xfrm>
            <a:off x="1992249" y="1143000"/>
            <a:ext cx="1324737" cy="502920"/>
          </a:xfrm>
          <a:prstGeom prst="chevron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92249" y="1719072"/>
            <a:ext cx="1324737" cy="1965960"/>
          </a:xfrm>
          <a:prstGeom prst="rect">
            <a:avLst/>
          </a:prstGeom>
          <a:solidFill>
            <a:srgbClr val="FD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Build using text prompts and deploy prototype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2249" y="3749039"/>
            <a:ext cx="1324737" cy="1371600"/>
          </a:xfrm>
          <a:prstGeom prst="rect">
            <a:avLst/>
          </a:prstGeom>
          <a:solidFill>
            <a:srgbClr val="525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Figma AI</a:t>
            </a:r>
            <a:br/>
            <a:r>
              <a:t>Loveable</a:t>
            </a:r>
          </a:p>
        </p:txBody>
      </p:sp>
      <p:sp>
        <p:nvSpPr>
          <p:cNvPr id="12" name="Chevron 11"/>
          <p:cNvSpPr/>
          <p:nvPr/>
        </p:nvSpPr>
        <p:spPr>
          <a:xfrm>
            <a:off x="3390138" y="1143000"/>
            <a:ext cx="1324737" cy="502920"/>
          </a:xfrm>
          <a:prstGeom prst="chevron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UX/SD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138" y="1719072"/>
            <a:ext cx="1324737" cy="1965960"/>
          </a:xfrm>
          <a:prstGeom prst="rect">
            <a:avLst/>
          </a:prstGeom>
          <a:solidFill>
            <a:srgbClr val="FD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Generate UI from text prompts. Draft UX copy and accessibility guidelines. AI-assisted journey mapping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138" y="3749039"/>
            <a:ext cx="1324737" cy="1371600"/>
          </a:xfrm>
          <a:prstGeom prst="rect">
            <a:avLst/>
          </a:prstGeom>
          <a:solidFill>
            <a:srgbClr val="525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Figma AI</a:t>
            </a:r>
            <a:br/>
            <a:r>
              <a:t>Lovable</a:t>
            </a:r>
          </a:p>
        </p:txBody>
      </p:sp>
      <p:sp>
        <p:nvSpPr>
          <p:cNvPr id="15" name="Chevron 14"/>
          <p:cNvSpPr/>
          <p:nvPr/>
        </p:nvSpPr>
        <p:spPr>
          <a:xfrm>
            <a:off x="4788027" y="1143000"/>
            <a:ext cx="1324737" cy="502920"/>
          </a:xfrm>
          <a:prstGeom prst="chevron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Architecture,</a:t>
            </a:r>
            <a:br/>
            <a:r>
              <a:t>Design &amp; Specs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8027" y="1719072"/>
            <a:ext cx="1324737" cy="1965960"/>
          </a:xfrm>
          <a:prstGeom prst="rect">
            <a:avLst/>
          </a:prstGeom>
          <a:solidFill>
            <a:srgbClr val="FD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Generate OpenAPI specs. Enforce Hybrid spec-driven, BDD, TDD development. AI-generated sequence diagrams and service contracts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8027" y="3749039"/>
            <a:ext cx="1324737" cy="1371600"/>
          </a:xfrm>
          <a:prstGeom prst="rect">
            <a:avLst/>
          </a:prstGeom>
          <a:solidFill>
            <a:srgbClr val="525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Github co-pilot</a:t>
            </a:r>
            <a:br/>
            <a:r>
              <a:t>Claude code (with skills &amp; tools)</a:t>
            </a:r>
            <a:br/>
            <a:r>
              <a:t>Draw.io</a:t>
            </a:r>
            <a:br/>
            <a:r>
              <a:t>Mermaid</a:t>
            </a:r>
          </a:p>
        </p:txBody>
      </p:sp>
      <p:sp>
        <p:nvSpPr>
          <p:cNvPr id="18" name="Chevron 17"/>
          <p:cNvSpPr/>
          <p:nvPr/>
        </p:nvSpPr>
        <p:spPr>
          <a:xfrm>
            <a:off x="6185916" y="1143000"/>
            <a:ext cx="1324737" cy="502920"/>
          </a:xfrm>
          <a:prstGeom prst="chevron">
            <a:avLst/>
          </a:prstGeom>
          <a:solidFill>
            <a:srgbClr val="D9480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5916" y="1719072"/>
            <a:ext cx="1324737" cy="1965960"/>
          </a:xfrm>
          <a:prstGeom prst="rect">
            <a:avLst/>
          </a:prstGeom>
          <a:solidFill>
            <a:srgbClr val="F5E9DE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Code generation</a:t>
            </a:r>
            <a:br/>
            <a:r>
              <a:t>Code+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5916" y="3749039"/>
            <a:ext cx="1324737" cy="1371600"/>
          </a:xfrm>
          <a:prstGeom prst="rect">
            <a:avLst/>
          </a:prstGeom>
          <a:solidFill>
            <a:srgbClr val="0073C6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Github co-pilot</a:t>
            </a:r>
            <a:br/>
            <a:r>
              <a:t>Claude code (with skills &amp; tools)</a:t>
            </a:r>
          </a:p>
        </p:txBody>
      </p:sp>
      <p:sp>
        <p:nvSpPr>
          <p:cNvPr id="21" name="Chevron 20"/>
          <p:cNvSpPr/>
          <p:nvPr/>
        </p:nvSpPr>
        <p:spPr>
          <a:xfrm>
            <a:off x="7583805" y="1143000"/>
            <a:ext cx="1324737" cy="502920"/>
          </a:xfrm>
          <a:prstGeom prst="chevron">
            <a:avLst/>
          </a:prstGeom>
          <a:solidFill>
            <a:srgbClr val="D9480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3805" y="1719072"/>
            <a:ext cx="1324737" cy="1965960"/>
          </a:xfrm>
          <a:prstGeom prst="rect">
            <a:avLst/>
          </a:prstGeom>
          <a:solidFill>
            <a:srgbClr val="F5E9DE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Functional, integration, A11y, security, compliance, performance testing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3805" y="3749039"/>
            <a:ext cx="1324737" cy="1371600"/>
          </a:xfrm>
          <a:prstGeom prst="rect">
            <a:avLst/>
          </a:prstGeom>
          <a:solidFill>
            <a:srgbClr val="0073C6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Github co-pilot</a:t>
            </a:r>
            <a:br/>
            <a:r>
              <a:t>Claude code (with skills &amp; tools)</a:t>
            </a:r>
            <a:br/>
            <a:br/>
            <a:r>
              <a:t>MCP - Playwright</a:t>
            </a:r>
          </a:p>
        </p:txBody>
      </p:sp>
      <p:sp>
        <p:nvSpPr>
          <p:cNvPr id="24" name="Chevron 23"/>
          <p:cNvSpPr/>
          <p:nvPr/>
        </p:nvSpPr>
        <p:spPr>
          <a:xfrm>
            <a:off x="8981694" y="1143000"/>
            <a:ext cx="1324737" cy="502920"/>
          </a:xfrm>
          <a:prstGeom prst="chevron">
            <a:avLst/>
          </a:prstGeom>
          <a:solidFill>
            <a:srgbClr val="D9480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1694" y="1719072"/>
            <a:ext cx="1324737" cy="1965960"/>
          </a:xfrm>
          <a:prstGeom prst="rect">
            <a:avLst/>
          </a:prstGeom>
          <a:solidFill>
            <a:srgbClr val="F5E9DE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Predict deployment risks. AI-based canary release planning. Automated rollback strategies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81694" y="3749039"/>
            <a:ext cx="1324737" cy="1371600"/>
          </a:xfrm>
          <a:prstGeom prst="rect">
            <a:avLst/>
          </a:prstGeom>
          <a:solidFill>
            <a:srgbClr val="0073C6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Github co-pilot</a:t>
            </a:r>
            <a:br/>
            <a:r>
              <a:t>Github actions</a:t>
            </a:r>
          </a:p>
        </p:txBody>
      </p:sp>
      <p:sp>
        <p:nvSpPr>
          <p:cNvPr id="27" name="Chevron 26"/>
          <p:cNvSpPr/>
          <p:nvPr/>
        </p:nvSpPr>
        <p:spPr>
          <a:xfrm>
            <a:off x="10379583" y="1143000"/>
            <a:ext cx="1324737" cy="502920"/>
          </a:xfrm>
          <a:prstGeom prst="chevron">
            <a:avLst/>
          </a:prstGeom>
          <a:solidFill>
            <a:srgbClr val="D9480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79583" y="1719072"/>
            <a:ext cx="1324737" cy="1965960"/>
          </a:xfrm>
          <a:prstGeom prst="rect">
            <a:avLst/>
          </a:prstGeom>
          <a:solidFill>
            <a:srgbClr val="F5E9DE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1E1E1E"/>
                </a:solidFill>
                <a:latin typeface="Arial"/>
              </a:defRPr>
            </a:pPr>
            <a:r>
              <a:t>AI quality and trustworthiness. Summarize logs and generate reports. AI-driven root cause analysis. Continuous compliance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79583" y="3749039"/>
            <a:ext cx="1324737" cy="1371600"/>
          </a:xfrm>
          <a:prstGeom prst="rect">
            <a:avLst/>
          </a:prstGeom>
          <a:solidFill>
            <a:srgbClr val="0073C6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850">
                <a:solidFill>
                  <a:srgbClr val="FFFFFF"/>
                </a:solidFill>
                <a:latin typeface="Arial"/>
              </a:defRPr>
            </a:pPr>
            <a:r>
              <a:t>Splunk 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30368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>
                <a:solidFill>
                  <a:srgbClr val="323232"/>
                </a:solidFill>
                <a:latin typeface="Arial"/>
              </a:defRPr>
            </a:pPr>
            <a:r>
              <a:t>1.  During the modernization cycle, the focus will be on the last 4 phases, Build to Ops since its AS-IS movement</a:t>
            </a:r>
          </a:p>
          <a:p>
            <a:pPr>
              <a:spcAft>
                <a:spcPts val="100"/>
              </a:spcAft>
              <a:defRPr sz="850">
                <a:solidFill>
                  <a:srgbClr val="323232"/>
                </a:solidFill>
                <a:latin typeface="Arial"/>
              </a:defRPr>
            </a:pPr>
            <a:r>
              <a:t>2.  After modernization with development of new features, TCS suggests AI intervention in the first 4 phases, Requirements -&gt; Arch as well</a:t>
            </a:r>
          </a:p>
          <a:p>
            <a:pPr>
              <a:spcAft>
                <a:spcPts val="100"/>
              </a:spcAft>
              <a:defRPr sz="850">
                <a:solidFill>
                  <a:srgbClr val="323232"/>
                </a:solidFill>
                <a:latin typeface="Arial"/>
              </a:defRPr>
            </a:pPr>
            <a:r>
              <a:t>3.  AI augments existing SDLC tools and practices. It does not replace current platforms or processes. Consistent with xxxx principle of innovating by building on core strengths</a:t>
            </a:r>
          </a:p>
          <a:p>
            <a:pPr>
              <a:spcAft>
                <a:spcPts val="100"/>
              </a:spcAft>
              <a:defRPr sz="850">
                <a:solidFill>
                  <a:srgbClr val="323232"/>
                </a:solidFill>
                <a:latin typeface="Arial"/>
              </a:defRPr>
            </a:pPr>
            <a:r>
              <a:t>4.  Tools are indicative not exhaustive</a:t>
            </a:r>
          </a:p>
          <a:p>
            <a:pPr>
              <a:spcBef>
                <a:spcPts val="400"/>
              </a:spcBef>
              <a:defRPr sz="800" i="1">
                <a:solidFill>
                  <a:srgbClr val="505050"/>
                </a:solidFill>
                <a:latin typeface="Arial"/>
              </a:defRPr>
            </a:pPr>
            <a:r>
              <a:t>*Note: TCS is open to other AI development and testing tools based on PostNL's AI CoE and EU guidance. This will be applicable for all mentions like Github co-pilot/Claude in this proposal.</a:t>
            </a:r>
          </a:p>
        </p:txBody>
      </p:sp>
      <p:sp>
        <p:nvSpPr>
          <p:cNvPr id="31" name="Oval 30"/>
          <p:cNvSpPr/>
          <p:nvPr/>
        </p:nvSpPr>
        <p:spPr>
          <a:xfrm>
            <a:off x="11338560" y="6217920"/>
            <a:ext cx="411480" cy="41148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